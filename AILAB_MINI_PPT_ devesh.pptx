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7" r:id="rId3"/>
    <p:sldId id="259" r:id="rId4"/>
    <p:sldId id="258"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516"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EF56DB-6447-4E9A-8D0B-327B958AB26D}" type="datetimeFigureOut">
              <a:rPr lang="en-US" smtClean="0"/>
              <a:t>10/28/2025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476D98-D61B-4655-9F07-885518B2E134}" type="slidenum">
              <a:rPr lang="en-US" smtClean="0"/>
              <a:t>‹#›</a:t>
            </a:fld>
            <a:endParaRPr lang="en-US"/>
          </a:p>
        </p:txBody>
      </p:sp>
    </p:spTree>
    <p:extLst>
      <p:ext uri="{BB962C8B-B14F-4D97-AF65-F5344CB8AC3E}">
        <p14:creationId xmlns:p14="http://schemas.microsoft.com/office/powerpoint/2010/main" val="9051794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2F0ED-5252-4C0D-3BA2-BA6ECDF907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4F6E366-4DE2-8E81-1DC3-0AEE197AF6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8C19ECA-A45F-0986-41DE-E73470F3D075}"/>
              </a:ext>
            </a:extLst>
          </p:cNvPr>
          <p:cNvSpPr>
            <a:spLocks noGrp="1"/>
          </p:cNvSpPr>
          <p:nvPr>
            <p:ph type="dt" sz="half" idx="10"/>
          </p:nvPr>
        </p:nvSpPr>
        <p:spPr/>
        <p:txBody>
          <a:bodyPr/>
          <a:lstStyle/>
          <a:p>
            <a:fld id="{36A8A127-BB09-41A4-B1CB-CF09F8E9604A}" type="datetime1">
              <a:rPr lang="en-US" smtClean="0"/>
              <a:t>10/28/2025</a:t>
            </a:fld>
            <a:endParaRPr lang="en-US"/>
          </a:p>
        </p:txBody>
      </p:sp>
      <p:sp>
        <p:nvSpPr>
          <p:cNvPr id="5" name="Footer Placeholder 4">
            <a:extLst>
              <a:ext uri="{FF2B5EF4-FFF2-40B4-BE49-F238E27FC236}">
                <a16:creationId xmlns:a16="http://schemas.microsoft.com/office/drawing/2014/main" id="{246DC80E-2DDD-1136-4BC6-B4406DBF7B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C6432E-64B5-4716-F794-CD0C848FE6AA}"/>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21444283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75F44-3844-F881-3DC9-E55F3A5BB2A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B5DD6E-70DC-EC37-F363-8CA0371D48C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884CC4-4338-D905-6FCE-6141610CE918}"/>
              </a:ext>
            </a:extLst>
          </p:cNvPr>
          <p:cNvSpPr>
            <a:spLocks noGrp="1"/>
          </p:cNvSpPr>
          <p:nvPr>
            <p:ph type="dt" sz="half" idx="10"/>
          </p:nvPr>
        </p:nvSpPr>
        <p:spPr/>
        <p:txBody>
          <a:bodyPr/>
          <a:lstStyle/>
          <a:p>
            <a:fld id="{42A9C543-C1A5-4BB5-A80B-9531F5C51CEB}" type="datetime1">
              <a:rPr lang="en-US" smtClean="0"/>
              <a:t>10/28/2025</a:t>
            </a:fld>
            <a:endParaRPr lang="en-US"/>
          </a:p>
        </p:txBody>
      </p:sp>
      <p:sp>
        <p:nvSpPr>
          <p:cNvPr id="5" name="Footer Placeholder 4">
            <a:extLst>
              <a:ext uri="{FF2B5EF4-FFF2-40B4-BE49-F238E27FC236}">
                <a16:creationId xmlns:a16="http://schemas.microsoft.com/office/drawing/2014/main" id="{AD46F4CB-E19E-BF21-CA04-20FBF9E0B0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C561CA-A7D9-921E-283C-D2D26EC9D331}"/>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38553828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F0DB8-4328-6842-4C20-194E16496B3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D1C16DD-B055-C373-DB9C-1095E3A7F61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308B3A-5B20-B104-4DC9-F294FE85DC4F}"/>
              </a:ext>
            </a:extLst>
          </p:cNvPr>
          <p:cNvSpPr>
            <a:spLocks noGrp="1"/>
          </p:cNvSpPr>
          <p:nvPr>
            <p:ph type="dt" sz="half" idx="10"/>
          </p:nvPr>
        </p:nvSpPr>
        <p:spPr/>
        <p:txBody>
          <a:bodyPr/>
          <a:lstStyle/>
          <a:p>
            <a:fld id="{85DB2ABE-BEC8-4A12-8AF2-3E9347C9F9C5}" type="datetime1">
              <a:rPr lang="en-US" smtClean="0"/>
              <a:t>10/28/2025</a:t>
            </a:fld>
            <a:endParaRPr lang="en-US"/>
          </a:p>
        </p:txBody>
      </p:sp>
      <p:sp>
        <p:nvSpPr>
          <p:cNvPr id="5" name="Footer Placeholder 4">
            <a:extLst>
              <a:ext uri="{FF2B5EF4-FFF2-40B4-BE49-F238E27FC236}">
                <a16:creationId xmlns:a16="http://schemas.microsoft.com/office/drawing/2014/main" id="{242F6EF1-C2BF-E0B8-5AD2-1E80894A92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3C3E5B-79C1-F551-EB78-424972E416AB}"/>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2362975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FA2CF-D4B2-C0EA-7D8B-9997981DFC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C8EC816-FAB0-61B5-B8A9-3CEEDE3AC64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6888030-9606-40F3-F568-569861E67B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F26BC2E-18CA-513E-BBD3-A4A6A46824FE}"/>
              </a:ext>
            </a:extLst>
          </p:cNvPr>
          <p:cNvSpPr>
            <a:spLocks noGrp="1"/>
          </p:cNvSpPr>
          <p:nvPr>
            <p:ph type="dt" sz="half" idx="10"/>
          </p:nvPr>
        </p:nvSpPr>
        <p:spPr/>
        <p:txBody>
          <a:bodyPr/>
          <a:lstStyle/>
          <a:p>
            <a:fld id="{E457CA91-FD83-4EFE-93EA-63992C03614F}" type="datetime1">
              <a:rPr lang="en-US" smtClean="0"/>
              <a:t>10/28/2025</a:t>
            </a:fld>
            <a:endParaRPr lang="en-US"/>
          </a:p>
        </p:txBody>
      </p:sp>
      <p:sp>
        <p:nvSpPr>
          <p:cNvPr id="6" name="Footer Placeholder 5">
            <a:extLst>
              <a:ext uri="{FF2B5EF4-FFF2-40B4-BE49-F238E27FC236}">
                <a16:creationId xmlns:a16="http://schemas.microsoft.com/office/drawing/2014/main" id="{7610C424-8EE7-DCF3-92CA-9943CA217B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B02771-6578-A3F3-2DE5-957F26935FA9}"/>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18465012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A56EB-15F3-DA5A-FC5F-C8A9854DFC2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44F55B3-769C-0F68-56E4-09A31651F0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9390E3-482E-14E5-E93E-3EFDFCA024C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A5F7FD4-A0A2-100E-247B-0439DA6A8E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AB19785-7F9E-F7E7-9989-FBA2A2436A0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99BF4CB-4B11-6795-84C1-91B139428AEE}"/>
              </a:ext>
            </a:extLst>
          </p:cNvPr>
          <p:cNvSpPr>
            <a:spLocks noGrp="1"/>
          </p:cNvSpPr>
          <p:nvPr>
            <p:ph type="dt" sz="half" idx="10"/>
          </p:nvPr>
        </p:nvSpPr>
        <p:spPr/>
        <p:txBody>
          <a:bodyPr/>
          <a:lstStyle/>
          <a:p>
            <a:fld id="{07D6C43A-13E2-48A2-BAE5-CC73887FC199}" type="datetime1">
              <a:rPr lang="en-US" smtClean="0"/>
              <a:t>10/28/2025</a:t>
            </a:fld>
            <a:endParaRPr lang="en-US"/>
          </a:p>
        </p:txBody>
      </p:sp>
      <p:sp>
        <p:nvSpPr>
          <p:cNvPr id="8" name="Footer Placeholder 7">
            <a:extLst>
              <a:ext uri="{FF2B5EF4-FFF2-40B4-BE49-F238E27FC236}">
                <a16:creationId xmlns:a16="http://schemas.microsoft.com/office/drawing/2014/main" id="{F52FCB82-5972-D333-E21C-DF24F6BCF49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F12211A-324E-9069-32B0-8F509730AD76}"/>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33420882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0A965-A2B0-80BB-C6BA-CCCFA272AED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F0A2016-FBBB-4A1F-6F9E-FE6A63DE4832}"/>
              </a:ext>
            </a:extLst>
          </p:cNvPr>
          <p:cNvSpPr>
            <a:spLocks noGrp="1"/>
          </p:cNvSpPr>
          <p:nvPr>
            <p:ph type="dt" sz="half" idx="10"/>
          </p:nvPr>
        </p:nvSpPr>
        <p:spPr/>
        <p:txBody>
          <a:bodyPr/>
          <a:lstStyle/>
          <a:p>
            <a:fld id="{4EA2C5D3-416C-4131-8BC9-E71DA97D5A64}" type="datetime1">
              <a:rPr lang="en-US" smtClean="0"/>
              <a:t>10/28/2025</a:t>
            </a:fld>
            <a:endParaRPr lang="en-US"/>
          </a:p>
        </p:txBody>
      </p:sp>
      <p:sp>
        <p:nvSpPr>
          <p:cNvPr id="4" name="Footer Placeholder 3">
            <a:extLst>
              <a:ext uri="{FF2B5EF4-FFF2-40B4-BE49-F238E27FC236}">
                <a16:creationId xmlns:a16="http://schemas.microsoft.com/office/drawing/2014/main" id="{EBE845DF-F961-5466-32C3-C6385060CC2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6E057F6-928A-6D9F-4161-C04DEAA83D65}"/>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20759743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B366D7-6680-4FD6-C029-DC5C0BB2354F}"/>
              </a:ext>
            </a:extLst>
          </p:cNvPr>
          <p:cNvSpPr>
            <a:spLocks noGrp="1"/>
          </p:cNvSpPr>
          <p:nvPr>
            <p:ph type="dt" sz="half" idx="10"/>
          </p:nvPr>
        </p:nvSpPr>
        <p:spPr/>
        <p:txBody>
          <a:bodyPr/>
          <a:lstStyle/>
          <a:p>
            <a:fld id="{B8971593-8386-48B7-BB85-87C0949B2086}" type="datetime1">
              <a:rPr lang="en-US" smtClean="0"/>
              <a:t>10/28/2025</a:t>
            </a:fld>
            <a:endParaRPr lang="en-US"/>
          </a:p>
        </p:txBody>
      </p:sp>
      <p:sp>
        <p:nvSpPr>
          <p:cNvPr id="3" name="Footer Placeholder 2">
            <a:extLst>
              <a:ext uri="{FF2B5EF4-FFF2-40B4-BE49-F238E27FC236}">
                <a16:creationId xmlns:a16="http://schemas.microsoft.com/office/drawing/2014/main" id="{94179984-8567-91CB-0310-29A3752B78B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22C7A0D-606C-3BF9-8DBE-908D80966AD1}"/>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2799376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684C1-8596-31A1-180D-C7EC5332BB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13762C2-B7CC-ADA3-9D39-3541B3FE5A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835A5F9-7E68-401F-C3BB-09FB74F82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5F73E6-ECB8-2943-41D8-05812D848AD3}"/>
              </a:ext>
            </a:extLst>
          </p:cNvPr>
          <p:cNvSpPr>
            <a:spLocks noGrp="1"/>
          </p:cNvSpPr>
          <p:nvPr>
            <p:ph type="dt" sz="half" idx="10"/>
          </p:nvPr>
        </p:nvSpPr>
        <p:spPr/>
        <p:txBody>
          <a:bodyPr/>
          <a:lstStyle/>
          <a:p>
            <a:fld id="{3070F398-88D3-4D2F-9F7E-785BF8AD0274}" type="datetime1">
              <a:rPr lang="en-US" smtClean="0"/>
              <a:t>10/28/2025</a:t>
            </a:fld>
            <a:endParaRPr lang="en-US"/>
          </a:p>
        </p:txBody>
      </p:sp>
      <p:sp>
        <p:nvSpPr>
          <p:cNvPr id="6" name="Footer Placeholder 5">
            <a:extLst>
              <a:ext uri="{FF2B5EF4-FFF2-40B4-BE49-F238E27FC236}">
                <a16:creationId xmlns:a16="http://schemas.microsoft.com/office/drawing/2014/main" id="{D86B5AF7-95CA-05D2-1119-F667C7B6F8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599C23-C916-AE53-9371-42CF3819D0E1}"/>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15749913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9AC56-39A4-2278-722C-617F9F770A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1FAD1B2-1942-74FB-C400-0DB0C13B90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1DA8F38-E9BE-47E4-7662-3CD4AECCB2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28AE0B-2CCA-EDA3-1B80-8F2E1DF84CA6}"/>
              </a:ext>
            </a:extLst>
          </p:cNvPr>
          <p:cNvSpPr>
            <a:spLocks noGrp="1"/>
          </p:cNvSpPr>
          <p:nvPr>
            <p:ph type="dt" sz="half" idx="10"/>
          </p:nvPr>
        </p:nvSpPr>
        <p:spPr/>
        <p:txBody>
          <a:bodyPr/>
          <a:lstStyle/>
          <a:p>
            <a:fld id="{CE1A94C1-07AC-4775-8A4F-70BB05306BF7}" type="datetime1">
              <a:rPr lang="en-US" smtClean="0"/>
              <a:t>10/28/2025</a:t>
            </a:fld>
            <a:endParaRPr lang="en-US"/>
          </a:p>
        </p:txBody>
      </p:sp>
      <p:sp>
        <p:nvSpPr>
          <p:cNvPr id="6" name="Footer Placeholder 5">
            <a:extLst>
              <a:ext uri="{FF2B5EF4-FFF2-40B4-BE49-F238E27FC236}">
                <a16:creationId xmlns:a16="http://schemas.microsoft.com/office/drawing/2014/main" id="{2FDB1342-9AFD-57F0-2E90-76ECCEAFA3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E180B8-E20A-6138-1A1C-1E980CAD40A5}"/>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2969494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050B6-05B4-E3FE-22C0-B823946C349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534B519-CE0F-EF5E-0363-067F1B0DB1E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E2CA70-5E41-1433-D1D4-58B7EECA7D33}"/>
              </a:ext>
            </a:extLst>
          </p:cNvPr>
          <p:cNvSpPr>
            <a:spLocks noGrp="1"/>
          </p:cNvSpPr>
          <p:nvPr>
            <p:ph type="dt" sz="half" idx="10"/>
          </p:nvPr>
        </p:nvSpPr>
        <p:spPr/>
        <p:txBody>
          <a:bodyPr/>
          <a:lstStyle/>
          <a:p>
            <a:fld id="{850BF149-3A71-4B38-9BDE-7A4D7C7AB1AD}" type="datetime1">
              <a:rPr lang="en-US" smtClean="0"/>
              <a:t>10/28/2025</a:t>
            </a:fld>
            <a:endParaRPr lang="en-US"/>
          </a:p>
        </p:txBody>
      </p:sp>
      <p:sp>
        <p:nvSpPr>
          <p:cNvPr id="5" name="Footer Placeholder 4">
            <a:extLst>
              <a:ext uri="{FF2B5EF4-FFF2-40B4-BE49-F238E27FC236}">
                <a16:creationId xmlns:a16="http://schemas.microsoft.com/office/drawing/2014/main" id="{4A27E013-1DD3-69EC-2DB2-F95CD34915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12FAA7-8459-22BB-DD92-45D2DCDBB7A1}"/>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842190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665F096-56EB-9C2E-FB81-FEE0A0CAD97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F2D9855-6F39-E67A-6BE9-0AC527E9721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C113E1-9951-703E-A152-D5CEEC0EEDDB}"/>
              </a:ext>
            </a:extLst>
          </p:cNvPr>
          <p:cNvSpPr>
            <a:spLocks noGrp="1"/>
          </p:cNvSpPr>
          <p:nvPr>
            <p:ph type="dt" sz="half" idx="10"/>
          </p:nvPr>
        </p:nvSpPr>
        <p:spPr/>
        <p:txBody>
          <a:bodyPr/>
          <a:lstStyle/>
          <a:p>
            <a:fld id="{25415CF1-83E4-4056-B983-BD617F30DAFA}" type="datetime1">
              <a:rPr lang="en-US" smtClean="0"/>
              <a:t>10/28/2025</a:t>
            </a:fld>
            <a:endParaRPr lang="en-US"/>
          </a:p>
        </p:txBody>
      </p:sp>
      <p:sp>
        <p:nvSpPr>
          <p:cNvPr id="5" name="Footer Placeholder 4">
            <a:extLst>
              <a:ext uri="{FF2B5EF4-FFF2-40B4-BE49-F238E27FC236}">
                <a16:creationId xmlns:a16="http://schemas.microsoft.com/office/drawing/2014/main" id="{A7463D87-637E-E53B-45EF-5E53B2925E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5677AB-ED08-1C04-AEC4-B8B3B85BC40F}"/>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996424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4DB59C-E06D-9064-D0E9-EE878347C8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03B2644-B987-EA40-64D1-C253A45B0A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BC9483-BDE6-AF2E-5EF6-5FD8C63DA8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FA37CB-3111-4E43-978B-840B0C3E984E}" type="datetime1">
              <a:rPr lang="en-US" smtClean="0"/>
              <a:t>10/28/2025</a:t>
            </a:fld>
            <a:endParaRPr lang="en-US"/>
          </a:p>
        </p:txBody>
      </p:sp>
      <p:sp>
        <p:nvSpPr>
          <p:cNvPr id="5" name="Footer Placeholder 4">
            <a:extLst>
              <a:ext uri="{FF2B5EF4-FFF2-40B4-BE49-F238E27FC236}">
                <a16:creationId xmlns:a16="http://schemas.microsoft.com/office/drawing/2014/main" id="{E6345DA1-9E37-8BE4-5FD8-3086239736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9C78D0E-8A6B-A368-9312-1F3C29DDBA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CEF87E-815D-44D1-B0AB-39AF0402D6A8}" type="slidenum">
              <a:rPr lang="en-US" smtClean="0"/>
              <a:t>‹#›</a:t>
            </a:fld>
            <a:endParaRPr lang="en-US"/>
          </a:p>
        </p:txBody>
      </p:sp>
    </p:spTree>
    <p:extLst>
      <p:ext uri="{BB962C8B-B14F-4D97-AF65-F5344CB8AC3E}">
        <p14:creationId xmlns:p14="http://schemas.microsoft.com/office/powerpoint/2010/main" val="36965271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w3schools.com/python/" TargetMode="External"/><Relationship Id="rId2" Type="http://schemas.openxmlformats.org/officeDocument/2006/relationships/hyperlink" Target="https://docs.python.org/3/" TargetMode="External"/><Relationship Id="rId1" Type="http://schemas.openxmlformats.org/officeDocument/2006/relationships/slideLayout" Target="../slideLayouts/slideLayout2.xml"/><Relationship Id="rId4" Type="http://schemas.openxmlformats.org/officeDocument/2006/relationships/hyperlink" Target="https://www.geeksforgeeks.org/python-programming-languag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7F15FA6-086D-491A-B175-0CA4656FBDCB}"/>
              </a:ext>
            </a:extLst>
          </p:cNvPr>
          <p:cNvPicPr/>
          <p:nvPr/>
        </p:nvPicPr>
        <p:blipFill>
          <a:blip r:embed="rId2" cstate="print"/>
          <a:srcRect l="21229" t="27213" r="21523" b="35253"/>
          <a:stretch>
            <a:fillRect/>
          </a:stretch>
        </p:blipFill>
        <p:spPr bwMode="auto">
          <a:xfrm>
            <a:off x="3256548" y="136525"/>
            <a:ext cx="4776536" cy="834189"/>
          </a:xfrm>
          <a:prstGeom prst="rect">
            <a:avLst/>
          </a:prstGeom>
          <a:ln>
            <a:headEnd/>
            <a:tailEnd type="none" w="med" len="med"/>
          </a:ln>
        </p:spPr>
        <p:style>
          <a:lnRef idx="1">
            <a:schemeClr val="accent2"/>
          </a:lnRef>
          <a:fillRef idx="3">
            <a:schemeClr val="accent2"/>
          </a:fillRef>
          <a:effectRef idx="2">
            <a:schemeClr val="accent2"/>
          </a:effectRef>
          <a:fontRef idx="minor">
            <a:schemeClr val="lt1"/>
          </a:fontRef>
        </p:style>
      </p:pic>
      <p:sp>
        <p:nvSpPr>
          <p:cNvPr id="7" name="Title 6">
            <a:extLst>
              <a:ext uri="{FF2B5EF4-FFF2-40B4-BE49-F238E27FC236}">
                <a16:creationId xmlns:a16="http://schemas.microsoft.com/office/drawing/2014/main" id="{5BEE647A-5606-A6E5-93DB-A43A8FC2D88A}"/>
              </a:ext>
            </a:extLst>
          </p:cNvPr>
          <p:cNvSpPr>
            <a:spLocks noGrp="1"/>
          </p:cNvSpPr>
          <p:nvPr>
            <p:ph type="ctrTitle"/>
          </p:nvPr>
        </p:nvSpPr>
        <p:spPr>
          <a:xfrm>
            <a:off x="433138" y="1251284"/>
            <a:ext cx="10812378" cy="2458586"/>
          </a:xfrm>
        </p:spPr>
        <p:txBody>
          <a:bodyPr>
            <a:noAutofit/>
          </a:bodyPr>
          <a:lstStyle/>
          <a:p>
            <a:r>
              <a:rPr lang="en-GB" sz="2400" b="1" dirty="0">
                <a:latin typeface="Times New Roman" panose="02020603050405020304" pitchFamily="18" charset="0"/>
                <a:cs typeface="Times New Roman" panose="02020603050405020304" pitchFamily="18" charset="0"/>
              </a:rPr>
              <a:t>DEPARTMENT OF</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ARTIFICIAL INTELLIGENCE AND DATA SCIENCE</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ACADEMIC YEAR 2025 - 2026</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SEMESTER III</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ARTIFICIAL INTELLIGENCE LABORATORY</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	</a:t>
            </a:r>
            <a:r>
              <a:rPr lang="en-GB" sz="2400" b="1" dirty="0">
                <a:solidFill>
                  <a:srgbClr val="002060"/>
                </a:solidFill>
                <a:latin typeface="Times New Roman" panose="02020603050405020304" pitchFamily="18" charset="0"/>
                <a:cs typeface="Times New Roman" panose="02020603050405020304" pitchFamily="18" charset="0"/>
              </a:rPr>
              <a:t>MINI PROJECT REVIEW</a:t>
            </a:r>
            <a:r>
              <a:rPr lang="en-GB" sz="2400" dirty="0">
                <a:solidFill>
                  <a:srgbClr val="002060"/>
                </a:solidFill>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
            </a:r>
            <a:br>
              <a:rPr lang="en-GB" sz="2400" dirty="0">
                <a:latin typeface="Times New Roman" panose="02020603050405020304" pitchFamily="18" charset="0"/>
                <a:cs typeface="Times New Roman" panose="02020603050405020304" pitchFamily="18" charset="0"/>
              </a:rPr>
            </a:br>
            <a:r>
              <a:rPr lang="en-GB" sz="2400" dirty="0">
                <a:latin typeface="Times New Roman" panose="02020603050405020304" pitchFamily="18" charset="0"/>
                <a:cs typeface="Times New Roman" panose="02020603050405020304" pitchFamily="18" charset="0"/>
              </a:rPr>
              <a:t/>
            </a:r>
            <a:br>
              <a:rPr lang="en-GB" sz="2400" dirty="0">
                <a:latin typeface="Times New Roman" panose="02020603050405020304" pitchFamily="18" charset="0"/>
                <a:cs typeface="Times New Roman" panose="02020603050405020304" pitchFamily="18" charset="0"/>
              </a:rPr>
            </a:br>
            <a:r>
              <a:rPr lang="en-US" sz="2400" b="1" dirty="0" smtClean="0">
                <a:solidFill>
                  <a:srgbClr val="FF0000"/>
                </a:solidFill>
                <a:latin typeface="Times New Roman" panose="02020603050405020304" pitchFamily="18" charset="0"/>
                <a:cs typeface="Times New Roman" panose="02020603050405020304" pitchFamily="18" charset="0"/>
              </a:rPr>
              <a:t>Rock Paper Scissor Using Decision Making Algorithm</a:t>
            </a:r>
            <a:endParaRPr lang="en-US" sz="24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11" name="Table 10">
            <a:extLst>
              <a:ext uri="{FF2B5EF4-FFF2-40B4-BE49-F238E27FC236}">
                <a16:creationId xmlns:a16="http://schemas.microsoft.com/office/drawing/2014/main" id="{B39E0012-B3AF-E718-6BBA-5D37629E4005}"/>
              </a:ext>
            </a:extLst>
          </p:cNvPr>
          <p:cNvGraphicFramePr>
            <a:graphicFrameLocks noGrp="1"/>
          </p:cNvGraphicFramePr>
          <p:nvPr>
            <p:extLst>
              <p:ext uri="{D42A27DB-BD31-4B8C-83A1-F6EECF244321}">
                <p14:modId xmlns:p14="http://schemas.microsoft.com/office/powerpoint/2010/main" val="42211271"/>
              </p:ext>
            </p:extLst>
          </p:nvPr>
        </p:nvGraphicFramePr>
        <p:xfrm>
          <a:off x="2098841" y="3845961"/>
          <a:ext cx="8392696" cy="2458586"/>
        </p:xfrm>
        <a:graphic>
          <a:graphicData uri="http://schemas.openxmlformats.org/drawingml/2006/table">
            <a:tbl>
              <a:tblPr firstRow="1" bandRow="1">
                <a:tableStyleId>{21E4AEA4-8DFA-4A89-87EB-49C32662AFE0}</a:tableStyleId>
              </a:tblPr>
              <a:tblGrid>
                <a:gridCol w="2216485">
                  <a:extLst>
                    <a:ext uri="{9D8B030D-6E8A-4147-A177-3AD203B41FA5}">
                      <a16:colId xmlns:a16="http://schemas.microsoft.com/office/drawing/2014/main" val="1924387309"/>
                    </a:ext>
                  </a:extLst>
                </a:gridCol>
                <a:gridCol w="6176211">
                  <a:extLst>
                    <a:ext uri="{9D8B030D-6E8A-4147-A177-3AD203B41FA5}">
                      <a16:colId xmlns:a16="http://schemas.microsoft.com/office/drawing/2014/main" val="471423325"/>
                    </a:ext>
                  </a:extLst>
                </a:gridCol>
              </a:tblGrid>
              <a:tr h="486314">
                <a:tc>
                  <a:txBody>
                    <a:bodyPr/>
                    <a:lstStyle/>
                    <a:p>
                      <a:r>
                        <a:rPr lang="en-GB" b="1" dirty="0">
                          <a:solidFill>
                            <a:schemeClr val="tx1"/>
                          </a:solidFill>
                        </a:rPr>
                        <a:t>REGISTER NUMBER</a:t>
                      </a:r>
                      <a:endParaRPr lang="en-US" b="1" dirty="0">
                        <a:solidFill>
                          <a:schemeClr val="tx1"/>
                        </a:solidFill>
                      </a:endParaRPr>
                    </a:p>
                  </a:txBody>
                  <a:tcPr/>
                </a:tc>
                <a:tc>
                  <a:txBody>
                    <a:bodyPr/>
                    <a:lstStyle/>
                    <a:p>
                      <a:endParaRPr lang="en-US" dirty="0"/>
                    </a:p>
                  </a:txBody>
                  <a:tcPr/>
                </a:tc>
                <a:extLst>
                  <a:ext uri="{0D108BD9-81ED-4DB2-BD59-A6C34878D82A}">
                    <a16:rowId xmlns:a16="http://schemas.microsoft.com/office/drawing/2014/main" val="471703413"/>
                  </a:ext>
                </a:extLst>
              </a:tr>
              <a:tr h="493068">
                <a:tc>
                  <a:txBody>
                    <a:bodyPr/>
                    <a:lstStyle/>
                    <a:p>
                      <a:r>
                        <a:rPr lang="en-GB" b="1" dirty="0">
                          <a:solidFill>
                            <a:schemeClr val="tx1"/>
                          </a:solidFill>
                        </a:rPr>
                        <a:t>NAME</a:t>
                      </a:r>
                      <a:endParaRPr lang="en-US" b="1" dirty="0">
                        <a:solidFill>
                          <a:schemeClr val="tx1"/>
                        </a:solidFill>
                      </a:endParaRPr>
                    </a:p>
                  </a:txBody>
                  <a:tcPr/>
                </a:tc>
                <a:tc>
                  <a:txBody>
                    <a:bodyPr/>
                    <a:lstStyle/>
                    <a:p>
                      <a:r>
                        <a:rPr lang="en-US" dirty="0" smtClean="0"/>
                        <a:t>DEVESH</a:t>
                      </a:r>
                      <a:r>
                        <a:rPr lang="en-US" baseline="0" dirty="0" smtClean="0"/>
                        <a:t> A</a:t>
                      </a:r>
                      <a:endParaRPr lang="en-US" dirty="0"/>
                    </a:p>
                  </a:txBody>
                  <a:tcPr/>
                </a:tc>
                <a:extLst>
                  <a:ext uri="{0D108BD9-81ED-4DB2-BD59-A6C34878D82A}">
                    <a16:rowId xmlns:a16="http://schemas.microsoft.com/office/drawing/2014/main" val="2967366592"/>
                  </a:ext>
                </a:extLst>
              </a:tr>
              <a:tr h="493068">
                <a:tc>
                  <a:txBody>
                    <a:bodyPr/>
                    <a:lstStyle/>
                    <a:p>
                      <a:r>
                        <a:rPr lang="en-GB" b="1" dirty="0">
                          <a:solidFill>
                            <a:schemeClr val="tx1"/>
                          </a:solidFill>
                        </a:rPr>
                        <a:t>YEAR</a:t>
                      </a:r>
                      <a:endParaRPr lang="en-US" b="1" dirty="0">
                        <a:solidFill>
                          <a:schemeClr val="tx1"/>
                        </a:solidFill>
                      </a:endParaRPr>
                    </a:p>
                  </a:txBody>
                  <a:tcPr/>
                </a:tc>
                <a:tc>
                  <a:txBody>
                    <a:bodyPr/>
                    <a:lstStyle/>
                    <a:p>
                      <a:r>
                        <a:rPr lang="en-US" dirty="0" smtClean="0"/>
                        <a:t>II</a:t>
                      </a:r>
                      <a:endParaRPr lang="en-US" dirty="0"/>
                    </a:p>
                  </a:txBody>
                  <a:tcPr/>
                </a:tc>
                <a:extLst>
                  <a:ext uri="{0D108BD9-81ED-4DB2-BD59-A6C34878D82A}">
                    <a16:rowId xmlns:a16="http://schemas.microsoft.com/office/drawing/2014/main" val="3106965190"/>
                  </a:ext>
                </a:extLst>
              </a:tr>
              <a:tr h="493068">
                <a:tc>
                  <a:txBody>
                    <a:bodyPr/>
                    <a:lstStyle/>
                    <a:p>
                      <a:r>
                        <a:rPr lang="en-GB" b="1" dirty="0">
                          <a:solidFill>
                            <a:schemeClr val="tx1"/>
                          </a:solidFill>
                        </a:rPr>
                        <a:t>SECTION</a:t>
                      </a:r>
                      <a:endParaRPr lang="en-US" b="1" dirty="0">
                        <a:solidFill>
                          <a:schemeClr val="tx1"/>
                        </a:solidFill>
                      </a:endParaRPr>
                    </a:p>
                  </a:txBody>
                  <a:tcPr/>
                </a:tc>
                <a:tc>
                  <a:txBody>
                    <a:bodyPr/>
                    <a:lstStyle/>
                    <a:p>
                      <a:r>
                        <a:rPr lang="en-US" dirty="0" smtClean="0"/>
                        <a:t>A</a:t>
                      </a:r>
                      <a:endParaRPr lang="en-US" dirty="0"/>
                    </a:p>
                  </a:txBody>
                  <a:tcPr/>
                </a:tc>
                <a:extLst>
                  <a:ext uri="{0D108BD9-81ED-4DB2-BD59-A6C34878D82A}">
                    <a16:rowId xmlns:a16="http://schemas.microsoft.com/office/drawing/2014/main" val="3234068443"/>
                  </a:ext>
                </a:extLst>
              </a:tr>
              <a:tr h="493068">
                <a:tc>
                  <a:txBody>
                    <a:bodyPr/>
                    <a:lstStyle/>
                    <a:p>
                      <a:r>
                        <a:rPr lang="en-GB" b="1" dirty="0">
                          <a:solidFill>
                            <a:schemeClr val="tx1"/>
                          </a:solidFill>
                        </a:rPr>
                        <a:t>FACULTY IN-CHARGE</a:t>
                      </a:r>
                      <a:endParaRPr lang="en-US" b="1" dirty="0">
                        <a:solidFill>
                          <a:schemeClr val="tx1"/>
                        </a:solidFill>
                      </a:endParaRPr>
                    </a:p>
                  </a:txBody>
                  <a:tcPr/>
                </a:tc>
                <a:tc>
                  <a:txBody>
                    <a:bodyPr/>
                    <a:lstStyle/>
                    <a:p>
                      <a:r>
                        <a:rPr lang="en-GB" b="1" dirty="0"/>
                        <a:t>Mrs. M. Divya</a:t>
                      </a:r>
                      <a:endParaRPr lang="en-US" b="1" dirty="0"/>
                    </a:p>
                  </a:txBody>
                  <a:tcPr/>
                </a:tc>
                <a:extLst>
                  <a:ext uri="{0D108BD9-81ED-4DB2-BD59-A6C34878D82A}">
                    <a16:rowId xmlns:a16="http://schemas.microsoft.com/office/drawing/2014/main" val="3536199969"/>
                  </a:ext>
                </a:extLst>
              </a:tr>
            </a:tbl>
          </a:graphicData>
        </a:graphic>
      </p:graphicFrame>
      <p:sp>
        <p:nvSpPr>
          <p:cNvPr id="12" name="Date Placeholder 11">
            <a:extLst>
              <a:ext uri="{FF2B5EF4-FFF2-40B4-BE49-F238E27FC236}">
                <a16:creationId xmlns:a16="http://schemas.microsoft.com/office/drawing/2014/main" id="{6B174A57-15CE-2FFD-86D9-B7E84692480D}"/>
              </a:ext>
            </a:extLst>
          </p:cNvPr>
          <p:cNvSpPr>
            <a:spLocks noGrp="1"/>
          </p:cNvSpPr>
          <p:nvPr>
            <p:ph type="dt" sz="half" idx="10"/>
          </p:nvPr>
        </p:nvSpPr>
        <p:spPr/>
        <p:txBody>
          <a:bodyPr/>
          <a:lstStyle/>
          <a:p>
            <a:fld id="{F9B0B098-7844-408D-9BB3-6B083FBEE8AA}" type="datetime1">
              <a:rPr lang="en-US" smtClean="0"/>
              <a:t>10/28/2025</a:t>
            </a:fld>
            <a:endParaRPr lang="en-US"/>
          </a:p>
        </p:txBody>
      </p:sp>
      <p:sp>
        <p:nvSpPr>
          <p:cNvPr id="13" name="Slide Number Placeholder 12">
            <a:extLst>
              <a:ext uri="{FF2B5EF4-FFF2-40B4-BE49-F238E27FC236}">
                <a16:creationId xmlns:a16="http://schemas.microsoft.com/office/drawing/2014/main" id="{E4873981-939E-932D-DBE2-6B02CC92B85F}"/>
              </a:ext>
            </a:extLst>
          </p:cNvPr>
          <p:cNvSpPr>
            <a:spLocks noGrp="1"/>
          </p:cNvSpPr>
          <p:nvPr>
            <p:ph type="sldNum" sz="quarter" idx="12"/>
          </p:nvPr>
        </p:nvSpPr>
        <p:spPr/>
        <p:txBody>
          <a:bodyPr/>
          <a:lstStyle/>
          <a:p>
            <a:fld id="{1FCEF87E-815D-44D1-B0AB-39AF0402D6A8}" type="slidenum">
              <a:rPr lang="en-US" smtClean="0"/>
              <a:t>1</a:t>
            </a:fld>
            <a:endParaRPr lang="en-US"/>
          </a:p>
        </p:txBody>
      </p:sp>
    </p:spTree>
    <p:extLst>
      <p:ext uri="{BB962C8B-B14F-4D97-AF65-F5344CB8AC3E}">
        <p14:creationId xmlns:p14="http://schemas.microsoft.com/office/powerpoint/2010/main" val="2720793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E759A-0732-65F8-ABFC-93E81441B8A8}"/>
              </a:ext>
            </a:extLst>
          </p:cNvPr>
          <p:cNvSpPr>
            <a:spLocks noGrp="1"/>
          </p:cNvSpPr>
          <p:nvPr>
            <p:ph type="title"/>
          </p:nvPr>
        </p:nvSpPr>
        <p:spPr>
          <a:xfrm>
            <a:off x="0" y="35509"/>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PROBLEM STATEMENT</a:t>
            </a:r>
            <a:endParaRPr lang="en-US" dirty="0">
              <a:solidFill>
                <a:schemeClr val="tx1"/>
              </a:solidFill>
            </a:endParaRPr>
          </a:p>
        </p:txBody>
      </p:sp>
      <p:sp>
        <p:nvSpPr>
          <p:cNvPr id="3" name="Content Placeholder 2">
            <a:extLst>
              <a:ext uri="{FF2B5EF4-FFF2-40B4-BE49-F238E27FC236}">
                <a16:creationId xmlns:a16="http://schemas.microsoft.com/office/drawing/2014/main" id="{FAE17474-C476-1051-3F37-A2159E2BEE57}"/>
              </a:ext>
            </a:extLst>
          </p:cNvPr>
          <p:cNvSpPr>
            <a:spLocks noGrp="1"/>
          </p:cNvSpPr>
          <p:nvPr>
            <p:ph idx="1"/>
          </p:nvPr>
        </p:nvSpPr>
        <p:spPr>
          <a:xfrm>
            <a:off x="838200" y="818148"/>
            <a:ext cx="10515600" cy="5358816"/>
          </a:xfrm>
        </p:spPr>
        <p:txBody>
          <a:bodyPr>
            <a:normAutofit/>
          </a:bodyPr>
          <a:lstStyle/>
          <a:p>
            <a:r>
              <a:rPr lang="en-US" sz="2200" dirty="0"/>
              <a:t>Brief Overview of Artificial </a:t>
            </a:r>
            <a:r>
              <a:rPr lang="en-US" sz="2200" dirty="0" smtClean="0"/>
              <a:t>Intelligence:</a:t>
            </a:r>
          </a:p>
          <a:p>
            <a:r>
              <a:rPr lang="en-US" sz="2200" dirty="0" smtClean="0"/>
              <a:t> </a:t>
            </a:r>
            <a:r>
              <a:rPr lang="en-US" sz="1700" dirty="0" err="1"/>
              <a:t>ConceptsArtificial</a:t>
            </a:r>
            <a:r>
              <a:rPr lang="en-US" sz="1700" dirty="0"/>
              <a:t> Intelligence (AI) is a field of computer science that enables machines to mimic human intelligence and make decisions based on logic. AI systems are designed to learn, adapt, and respond intelligently to user inputs. In this project, AI concepts are applied to create an interactive game where the computer makes random decisions that simulate human behavior, demonstrating the idea of machine-based </a:t>
            </a:r>
            <a:r>
              <a:rPr lang="en-US" sz="1700" dirty="0" smtClean="0"/>
              <a:t>decision-making</a:t>
            </a:r>
            <a:r>
              <a:rPr lang="en-US" dirty="0" smtClean="0"/>
              <a:t>.</a:t>
            </a:r>
          </a:p>
          <a:p>
            <a:r>
              <a:rPr lang="en-US" sz="2200" dirty="0" smtClean="0"/>
              <a:t>Problem Statement:</a:t>
            </a:r>
          </a:p>
          <a:p>
            <a:r>
              <a:rPr lang="en-US" sz="1700" dirty="0" smtClean="0"/>
              <a:t>The </a:t>
            </a:r>
            <a:r>
              <a:rPr lang="en-US" sz="1700" dirty="0"/>
              <a:t>goal is to design a simple game where a computer and a user play Rock–Paper–Scissors. The challenge is to enable the computer to make fair and unpredictable choices, creating an engaging and realistic experience for the </a:t>
            </a:r>
            <a:r>
              <a:rPr lang="en-US" sz="1700" dirty="0" smtClean="0"/>
              <a:t>user.</a:t>
            </a:r>
            <a:endParaRPr lang="en-US" dirty="0" smtClean="0"/>
          </a:p>
          <a:p>
            <a:r>
              <a:rPr lang="en-US" sz="2200" dirty="0" smtClean="0"/>
              <a:t>Expected Result:</a:t>
            </a:r>
          </a:p>
          <a:p>
            <a:r>
              <a:rPr lang="en-US" sz="1700" dirty="0" smtClean="0"/>
              <a:t>The </a:t>
            </a:r>
            <a:r>
              <a:rPr lang="en-US" sz="1700" dirty="0"/>
              <a:t>program should take the user’s input, generate the computer’s choice randomly, and determine the winner based on game rules. It should display whether the user wins, loses, or ties in each </a:t>
            </a:r>
            <a:r>
              <a:rPr lang="en-US" sz="1700" dirty="0" smtClean="0"/>
              <a:t>round.</a:t>
            </a:r>
            <a:endParaRPr lang="en-US" dirty="0"/>
          </a:p>
          <a:p>
            <a:r>
              <a:rPr lang="en-US" sz="2200" dirty="0" smtClean="0"/>
              <a:t>Possibilities:</a:t>
            </a:r>
          </a:p>
          <a:p>
            <a:r>
              <a:rPr lang="en-US" sz="1700" dirty="0" smtClean="0"/>
              <a:t>This </a:t>
            </a:r>
            <a:r>
              <a:rPr lang="en-US" sz="1700" dirty="0"/>
              <a:t>basic AI concept can be extended further to include machine learning, allowing the computer to learn user patterns and predict future moves, or to create more advanced interactive gaming systems.</a:t>
            </a:r>
            <a:endParaRPr lang="en-US" sz="1700" dirty="0"/>
          </a:p>
        </p:txBody>
      </p:sp>
      <p:sp>
        <p:nvSpPr>
          <p:cNvPr id="4" name="Date Placeholder 3">
            <a:extLst>
              <a:ext uri="{FF2B5EF4-FFF2-40B4-BE49-F238E27FC236}">
                <a16:creationId xmlns:a16="http://schemas.microsoft.com/office/drawing/2014/main" id="{85FF5BCC-B36E-DFE5-103F-31FA12632094}"/>
              </a:ext>
            </a:extLst>
          </p:cNvPr>
          <p:cNvSpPr>
            <a:spLocks noGrp="1"/>
          </p:cNvSpPr>
          <p:nvPr>
            <p:ph type="dt" sz="half" idx="10"/>
          </p:nvPr>
        </p:nvSpPr>
        <p:spPr/>
        <p:txBody>
          <a:bodyPr/>
          <a:lstStyle/>
          <a:p>
            <a:fld id="{316FBEDF-053F-468F-8CCF-D1ACE4FBB50D}" type="datetime1">
              <a:rPr lang="en-US" smtClean="0"/>
              <a:t>10/28/2025</a:t>
            </a:fld>
            <a:endParaRPr lang="en-US"/>
          </a:p>
        </p:txBody>
      </p:sp>
      <p:sp>
        <p:nvSpPr>
          <p:cNvPr id="5" name="Slide Number Placeholder 4">
            <a:extLst>
              <a:ext uri="{FF2B5EF4-FFF2-40B4-BE49-F238E27FC236}">
                <a16:creationId xmlns:a16="http://schemas.microsoft.com/office/drawing/2014/main" id="{70253399-F526-B4B1-D444-32B3A164A39F}"/>
              </a:ext>
            </a:extLst>
          </p:cNvPr>
          <p:cNvSpPr>
            <a:spLocks noGrp="1"/>
          </p:cNvSpPr>
          <p:nvPr>
            <p:ph type="sldNum" sz="quarter" idx="12"/>
          </p:nvPr>
        </p:nvSpPr>
        <p:spPr/>
        <p:txBody>
          <a:bodyPr/>
          <a:lstStyle/>
          <a:p>
            <a:fld id="{1FCEF87E-815D-44D1-B0AB-39AF0402D6A8}" type="slidenum">
              <a:rPr lang="en-US" smtClean="0"/>
              <a:t>2</a:t>
            </a:fld>
            <a:endParaRPr lang="en-US"/>
          </a:p>
        </p:txBody>
      </p:sp>
    </p:spTree>
    <p:extLst>
      <p:ext uri="{BB962C8B-B14F-4D97-AF65-F5344CB8AC3E}">
        <p14:creationId xmlns:p14="http://schemas.microsoft.com/office/powerpoint/2010/main" val="18166147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CC068-5F54-97E8-2F1C-0538F11269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B2B1AF-B7ED-6DDA-888D-9BCAF08EA5E4}"/>
              </a:ext>
            </a:extLst>
          </p:cNvPr>
          <p:cNvSpPr>
            <a:spLocks noGrp="1"/>
          </p:cNvSpPr>
          <p:nvPr>
            <p:ph type="title"/>
          </p:nvPr>
        </p:nvSpPr>
        <p:spPr>
          <a:xfrm>
            <a:off x="0" y="35509"/>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THEORETICAL BACKGROUND</a:t>
            </a:r>
            <a:endParaRPr lang="en-US" dirty="0">
              <a:solidFill>
                <a:schemeClr val="tx1"/>
              </a:solidFill>
            </a:endParaRPr>
          </a:p>
        </p:txBody>
      </p:sp>
      <p:sp>
        <p:nvSpPr>
          <p:cNvPr id="3" name="Content Placeholder 2">
            <a:extLst>
              <a:ext uri="{FF2B5EF4-FFF2-40B4-BE49-F238E27FC236}">
                <a16:creationId xmlns:a16="http://schemas.microsoft.com/office/drawing/2014/main" id="{FE67243E-1300-82BE-9968-6837E801AFFC}"/>
              </a:ext>
            </a:extLst>
          </p:cNvPr>
          <p:cNvSpPr>
            <a:spLocks noGrp="1"/>
          </p:cNvSpPr>
          <p:nvPr>
            <p:ph idx="1"/>
          </p:nvPr>
        </p:nvSpPr>
        <p:spPr>
          <a:xfrm>
            <a:off x="838200" y="818148"/>
            <a:ext cx="10515600" cy="5358816"/>
          </a:xfrm>
        </p:spPr>
        <p:txBody>
          <a:bodyPr/>
          <a:lstStyle/>
          <a:p>
            <a:r>
              <a:rPr lang="en-US" dirty="0"/>
              <a:t>The Rock–Paper–Scissors game demonstrates the basic concept of Artificial Intelligence in decision-making through randomization and conditional logic. The program uses Python’s random module to allow the computer to make unbiased and unpredictable choices, simulating human decision-making behavior. The use of conditional statements (if-</a:t>
            </a:r>
            <a:r>
              <a:rPr lang="en-US" dirty="0" err="1"/>
              <a:t>elif</a:t>
            </a:r>
            <a:r>
              <a:rPr lang="en-US" dirty="0"/>
              <a:t>-else) helps the system evaluate and decide the game result logically based on predefined rules.</a:t>
            </a:r>
            <a:endParaRPr lang="en-US" dirty="0"/>
          </a:p>
        </p:txBody>
      </p:sp>
      <p:sp>
        <p:nvSpPr>
          <p:cNvPr id="4" name="Date Placeholder 3">
            <a:extLst>
              <a:ext uri="{FF2B5EF4-FFF2-40B4-BE49-F238E27FC236}">
                <a16:creationId xmlns:a16="http://schemas.microsoft.com/office/drawing/2014/main" id="{4AF593AB-ABA6-D8E8-42D9-A38FB7B4DB45}"/>
              </a:ext>
            </a:extLst>
          </p:cNvPr>
          <p:cNvSpPr>
            <a:spLocks noGrp="1"/>
          </p:cNvSpPr>
          <p:nvPr>
            <p:ph type="dt" sz="half" idx="10"/>
          </p:nvPr>
        </p:nvSpPr>
        <p:spPr/>
        <p:txBody>
          <a:bodyPr/>
          <a:lstStyle/>
          <a:p>
            <a:fld id="{316FBEDF-053F-468F-8CCF-D1ACE4FBB50D}" type="datetime1">
              <a:rPr lang="en-US" smtClean="0"/>
              <a:t>10/28/2025</a:t>
            </a:fld>
            <a:endParaRPr lang="en-US"/>
          </a:p>
        </p:txBody>
      </p:sp>
      <p:sp>
        <p:nvSpPr>
          <p:cNvPr id="5" name="Slide Number Placeholder 4">
            <a:extLst>
              <a:ext uri="{FF2B5EF4-FFF2-40B4-BE49-F238E27FC236}">
                <a16:creationId xmlns:a16="http://schemas.microsoft.com/office/drawing/2014/main" id="{40AE40CC-B05F-6325-A926-99504CD4A72F}"/>
              </a:ext>
            </a:extLst>
          </p:cNvPr>
          <p:cNvSpPr>
            <a:spLocks noGrp="1"/>
          </p:cNvSpPr>
          <p:nvPr>
            <p:ph type="sldNum" sz="quarter" idx="12"/>
          </p:nvPr>
        </p:nvSpPr>
        <p:spPr/>
        <p:txBody>
          <a:bodyPr/>
          <a:lstStyle/>
          <a:p>
            <a:fld id="{1FCEF87E-815D-44D1-B0AB-39AF0402D6A8}" type="slidenum">
              <a:rPr lang="en-US" smtClean="0"/>
              <a:t>3</a:t>
            </a:fld>
            <a:endParaRPr lang="en-US"/>
          </a:p>
        </p:txBody>
      </p:sp>
    </p:spTree>
    <p:extLst>
      <p:ext uri="{BB962C8B-B14F-4D97-AF65-F5344CB8AC3E}">
        <p14:creationId xmlns:p14="http://schemas.microsoft.com/office/powerpoint/2010/main" val="2832692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34F6B-2294-8100-6428-71DD4A23A3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876350-5987-57CB-5096-A77DCA2009EF}"/>
              </a:ext>
            </a:extLst>
          </p:cNvPr>
          <p:cNvSpPr>
            <a:spLocks noGrp="1"/>
          </p:cNvSpPr>
          <p:nvPr>
            <p:ph type="title"/>
          </p:nvPr>
        </p:nvSpPr>
        <p:spPr>
          <a:xfrm>
            <a:off x="0" y="3651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IMPLEMENTATION AND CODE</a:t>
            </a:r>
            <a:endParaRPr lang="en-US" dirty="0">
              <a:solidFill>
                <a:schemeClr val="tx1"/>
              </a:solidFill>
            </a:endParaRPr>
          </a:p>
        </p:txBody>
      </p:sp>
      <p:sp>
        <p:nvSpPr>
          <p:cNvPr id="3" name="Content Placeholder 2">
            <a:extLst>
              <a:ext uri="{FF2B5EF4-FFF2-40B4-BE49-F238E27FC236}">
                <a16:creationId xmlns:a16="http://schemas.microsoft.com/office/drawing/2014/main" id="{A229904C-7E5E-5862-ACA4-167CDBC5044B}"/>
              </a:ext>
            </a:extLst>
          </p:cNvPr>
          <p:cNvSpPr>
            <a:spLocks noGrp="1"/>
          </p:cNvSpPr>
          <p:nvPr>
            <p:ph idx="1"/>
          </p:nvPr>
        </p:nvSpPr>
        <p:spPr>
          <a:xfrm>
            <a:off x="838200" y="1267326"/>
            <a:ext cx="10515600" cy="4909637"/>
          </a:xfrm>
        </p:spPr>
        <p:txBody>
          <a:bodyPr/>
          <a:lstStyle/>
          <a:p>
            <a:r>
              <a:rPr lang="en-GB" dirty="0"/>
              <a:t>Link to code in Git-hub Repository</a:t>
            </a:r>
          </a:p>
          <a:p>
            <a:endParaRPr lang="en-GB" dirty="0"/>
          </a:p>
          <a:p>
            <a:endParaRPr lang="en-US" dirty="0"/>
          </a:p>
        </p:txBody>
      </p:sp>
      <p:sp>
        <p:nvSpPr>
          <p:cNvPr id="4" name="Date Placeholder 3">
            <a:extLst>
              <a:ext uri="{FF2B5EF4-FFF2-40B4-BE49-F238E27FC236}">
                <a16:creationId xmlns:a16="http://schemas.microsoft.com/office/drawing/2014/main" id="{C0BC0E82-F7C5-E4B3-8BB9-1583AC631384}"/>
              </a:ext>
            </a:extLst>
          </p:cNvPr>
          <p:cNvSpPr>
            <a:spLocks noGrp="1"/>
          </p:cNvSpPr>
          <p:nvPr>
            <p:ph type="dt" sz="half" idx="10"/>
          </p:nvPr>
        </p:nvSpPr>
        <p:spPr/>
        <p:txBody>
          <a:bodyPr/>
          <a:lstStyle/>
          <a:p>
            <a:fld id="{C5480D13-07B8-4CF5-901F-BD1025D74351}" type="datetime1">
              <a:rPr lang="en-US" smtClean="0"/>
              <a:t>10/28/2025</a:t>
            </a:fld>
            <a:endParaRPr lang="en-US"/>
          </a:p>
        </p:txBody>
      </p:sp>
      <p:sp>
        <p:nvSpPr>
          <p:cNvPr id="5" name="Slide Number Placeholder 4">
            <a:extLst>
              <a:ext uri="{FF2B5EF4-FFF2-40B4-BE49-F238E27FC236}">
                <a16:creationId xmlns:a16="http://schemas.microsoft.com/office/drawing/2014/main" id="{04775014-201C-1110-C957-46A30A1C2417}"/>
              </a:ext>
            </a:extLst>
          </p:cNvPr>
          <p:cNvSpPr>
            <a:spLocks noGrp="1"/>
          </p:cNvSpPr>
          <p:nvPr>
            <p:ph type="sldNum" sz="quarter" idx="12"/>
          </p:nvPr>
        </p:nvSpPr>
        <p:spPr/>
        <p:txBody>
          <a:bodyPr/>
          <a:lstStyle/>
          <a:p>
            <a:fld id="{1FCEF87E-815D-44D1-B0AB-39AF0402D6A8}" type="slidenum">
              <a:rPr lang="en-US" smtClean="0"/>
              <a:t>4</a:t>
            </a:fld>
            <a:endParaRPr lang="en-US"/>
          </a:p>
        </p:txBody>
      </p:sp>
      <p:graphicFrame>
        <p:nvGraphicFramePr>
          <p:cNvPr id="7" name="Table 6">
            <a:extLst>
              <a:ext uri="{FF2B5EF4-FFF2-40B4-BE49-F238E27FC236}">
                <a16:creationId xmlns:a16="http://schemas.microsoft.com/office/drawing/2014/main" id="{ACE64048-76D1-E559-97A6-1E9DA8CC9F64}"/>
              </a:ext>
            </a:extLst>
          </p:cNvPr>
          <p:cNvGraphicFramePr>
            <a:graphicFrameLocks noGrp="1"/>
          </p:cNvGraphicFramePr>
          <p:nvPr>
            <p:extLst>
              <p:ext uri="{D42A27DB-BD31-4B8C-83A1-F6EECF244321}">
                <p14:modId xmlns:p14="http://schemas.microsoft.com/office/powerpoint/2010/main" val="1443146302"/>
              </p:ext>
            </p:extLst>
          </p:nvPr>
        </p:nvGraphicFramePr>
        <p:xfrm>
          <a:off x="1854200" y="2205222"/>
          <a:ext cx="8128000" cy="1478280"/>
        </p:xfrm>
        <a:graphic>
          <a:graphicData uri="http://schemas.openxmlformats.org/drawingml/2006/table">
            <a:tbl>
              <a:tblPr firstRow="1" bandRow="1">
                <a:tableStyleId>{21E4AEA4-8DFA-4A89-87EB-49C32662AFE0}</a:tableStyleId>
              </a:tblPr>
              <a:tblGrid>
                <a:gridCol w="4064000">
                  <a:extLst>
                    <a:ext uri="{9D8B030D-6E8A-4147-A177-3AD203B41FA5}">
                      <a16:colId xmlns:a16="http://schemas.microsoft.com/office/drawing/2014/main" val="4052004335"/>
                    </a:ext>
                  </a:extLst>
                </a:gridCol>
                <a:gridCol w="4064000">
                  <a:extLst>
                    <a:ext uri="{9D8B030D-6E8A-4147-A177-3AD203B41FA5}">
                      <a16:colId xmlns:a16="http://schemas.microsoft.com/office/drawing/2014/main" val="1251959847"/>
                    </a:ext>
                  </a:extLst>
                </a:gridCol>
              </a:tblGrid>
              <a:tr h="0">
                <a:tc>
                  <a:txBody>
                    <a:bodyPr/>
                    <a:lstStyle/>
                    <a:p>
                      <a:r>
                        <a:rPr lang="en-GB" dirty="0">
                          <a:solidFill>
                            <a:schemeClr val="tx1"/>
                          </a:solidFill>
                        </a:rPr>
                        <a:t>List</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dirty="0">
                          <a:solidFill>
                            <a:schemeClr val="tx1"/>
                          </a:solidFill>
                        </a:rPr>
                        <a:t>Git-hub Repository Links</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9369799"/>
                  </a:ext>
                </a:extLst>
              </a:tr>
              <a:tr h="370840">
                <a:tc>
                  <a:txBody>
                    <a:bodyPr/>
                    <a:lstStyle/>
                    <a:p>
                      <a:r>
                        <a:rPr lang="en-GB" dirty="0">
                          <a:solidFill>
                            <a:schemeClr val="tx1"/>
                          </a:solidFill>
                        </a:rPr>
                        <a:t>Implementation of Code Link</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96202207"/>
                  </a:ext>
                </a:extLst>
              </a:tr>
              <a:tr h="370840">
                <a:tc>
                  <a:txBody>
                    <a:bodyPr/>
                    <a:lstStyle/>
                    <a:p>
                      <a:r>
                        <a:rPr lang="en-GB" dirty="0">
                          <a:solidFill>
                            <a:schemeClr val="tx1"/>
                          </a:solidFill>
                        </a:rPr>
                        <a:t>Word Document Report Link</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1050083"/>
                  </a:ext>
                </a:extLst>
              </a:tr>
              <a:tr h="370840">
                <a:tc>
                  <a:txBody>
                    <a:bodyPr/>
                    <a:lstStyle/>
                    <a:p>
                      <a:r>
                        <a:rPr lang="en-GB" dirty="0">
                          <a:solidFill>
                            <a:schemeClr val="tx1"/>
                          </a:solidFill>
                        </a:rPr>
                        <a:t>PPT Link</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07241712"/>
                  </a:ext>
                </a:extLst>
              </a:tr>
            </a:tbl>
          </a:graphicData>
        </a:graphic>
      </p:graphicFrame>
    </p:spTree>
    <p:extLst>
      <p:ext uri="{BB962C8B-B14F-4D97-AF65-F5344CB8AC3E}">
        <p14:creationId xmlns:p14="http://schemas.microsoft.com/office/powerpoint/2010/main" val="5195863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55069-71B1-83F0-E5F5-B02F8F5772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358887-D4AD-6383-79D6-F528D34824D4}"/>
              </a:ext>
            </a:extLst>
          </p:cNvPr>
          <p:cNvSpPr>
            <a:spLocks noGrp="1"/>
          </p:cNvSpPr>
          <p:nvPr>
            <p:ph type="title"/>
          </p:nvPr>
        </p:nvSpPr>
        <p:spPr>
          <a:xfrm>
            <a:off x="0" y="2000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OUTPUT AND RESULTS</a:t>
            </a:r>
            <a:endParaRPr lang="en-US" dirty="0">
              <a:solidFill>
                <a:schemeClr val="tx1"/>
              </a:solidFill>
            </a:endParaRPr>
          </a:p>
        </p:txBody>
      </p:sp>
      <p:sp>
        <p:nvSpPr>
          <p:cNvPr id="4" name="Date Placeholder 3">
            <a:extLst>
              <a:ext uri="{FF2B5EF4-FFF2-40B4-BE49-F238E27FC236}">
                <a16:creationId xmlns:a16="http://schemas.microsoft.com/office/drawing/2014/main" id="{E47BACE5-322B-3F55-2CA9-8E1D4117021B}"/>
              </a:ext>
            </a:extLst>
          </p:cNvPr>
          <p:cNvSpPr>
            <a:spLocks noGrp="1"/>
          </p:cNvSpPr>
          <p:nvPr>
            <p:ph type="dt" sz="half" idx="10"/>
          </p:nvPr>
        </p:nvSpPr>
        <p:spPr/>
        <p:txBody>
          <a:bodyPr/>
          <a:lstStyle/>
          <a:p>
            <a:fld id="{C5480D13-07B8-4CF5-901F-BD1025D74351}" type="datetime1">
              <a:rPr lang="en-US" smtClean="0"/>
              <a:t>10/28/2025</a:t>
            </a:fld>
            <a:endParaRPr lang="en-US"/>
          </a:p>
        </p:txBody>
      </p:sp>
      <p:sp>
        <p:nvSpPr>
          <p:cNvPr id="5" name="Slide Number Placeholder 4">
            <a:extLst>
              <a:ext uri="{FF2B5EF4-FFF2-40B4-BE49-F238E27FC236}">
                <a16:creationId xmlns:a16="http://schemas.microsoft.com/office/drawing/2014/main" id="{A7D1AF6B-7EFE-60E0-2350-AE083D01AD8A}"/>
              </a:ext>
            </a:extLst>
          </p:cNvPr>
          <p:cNvSpPr>
            <a:spLocks noGrp="1"/>
          </p:cNvSpPr>
          <p:nvPr>
            <p:ph type="sldNum" sz="quarter" idx="12"/>
          </p:nvPr>
        </p:nvSpPr>
        <p:spPr/>
        <p:txBody>
          <a:bodyPr/>
          <a:lstStyle/>
          <a:p>
            <a:fld id="{1FCEF87E-815D-44D1-B0AB-39AF0402D6A8}" type="slidenum">
              <a:rPr lang="en-US" smtClean="0"/>
              <a:t>5</a:t>
            </a:fld>
            <a:endParaRPr lang="en-US"/>
          </a:p>
        </p:txBody>
      </p:sp>
      <p:sp>
        <p:nvSpPr>
          <p:cNvPr id="9" name="TextBox 8"/>
          <p:cNvSpPr txBox="1"/>
          <p:nvPr/>
        </p:nvSpPr>
        <p:spPr>
          <a:xfrm>
            <a:off x="207433" y="964656"/>
            <a:ext cx="4428067" cy="369332"/>
          </a:xfrm>
          <a:prstGeom prst="rect">
            <a:avLst/>
          </a:prstGeom>
          <a:noFill/>
        </p:spPr>
        <p:txBody>
          <a:bodyPr wrap="square" rtlCol="0">
            <a:spAutoFit/>
          </a:bodyPr>
          <a:lstStyle/>
          <a:p>
            <a:r>
              <a:rPr lang="en-US" dirty="0" smtClean="0"/>
              <a:t>OUTPUT :</a:t>
            </a:r>
            <a:endParaRPr lang="en-IN" dirty="0"/>
          </a:p>
        </p:txBody>
      </p:sp>
      <p:sp>
        <p:nvSpPr>
          <p:cNvPr id="10" name="TextBox 9"/>
          <p:cNvSpPr txBox="1"/>
          <p:nvPr/>
        </p:nvSpPr>
        <p:spPr>
          <a:xfrm>
            <a:off x="376766" y="3593068"/>
            <a:ext cx="3894667" cy="369332"/>
          </a:xfrm>
          <a:prstGeom prst="rect">
            <a:avLst/>
          </a:prstGeom>
          <a:noFill/>
        </p:spPr>
        <p:txBody>
          <a:bodyPr wrap="square" rtlCol="0">
            <a:spAutoFit/>
          </a:bodyPr>
          <a:lstStyle/>
          <a:p>
            <a:r>
              <a:rPr lang="en-US" dirty="0" smtClean="0"/>
              <a:t>EXPLANATION :</a:t>
            </a:r>
            <a:endParaRPr lang="en-IN" dirty="0"/>
          </a:p>
        </p:txBody>
      </p:sp>
      <p:sp>
        <p:nvSpPr>
          <p:cNvPr id="11" name="TextBox 10"/>
          <p:cNvSpPr txBox="1"/>
          <p:nvPr/>
        </p:nvSpPr>
        <p:spPr>
          <a:xfrm>
            <a:off x="457200" y="3962400"/>
            <a:ext cx="11569700" cy="1477328"/>
          </a:xfrm>
          <a:prstGeom prst="rect">
            <a:avLst/>
          </a:prstGeom>
          <a:noFill/>
        </p:spPr>
        <p:txBody>
          <a:bodyPr wrap="square" rtlCol="0">
            <a:spAutoFit/>
          </a:bodyPr>
          <a:lstStyle/>
          <a:p>
            <a:r>
              <a:rPr lang="en-US" dirty="0"/>
              <a:t>The program prompts the user to enter their choice among rock, paper, or </a:t>
            </a:r>
            <a:r>
              <a:rPr lang="en-US" dirty="0" err="1"/>
              <a:t>scissors.In</a:t>
            </a:r>
            <a:r>
              <a:rPr lang="en-US" dirty="0"/>
              <a:t> this example, the user entered “rock”, </a:t>
            </a:r>
            <a:r>
              <a:rPr lang="en-US" dirty="0" smtClean="0"/>
              <a:t>and </a:t>
            </a:r>
            <a:r>
              <a:rPr lang="en-US" dirty="0"/>
              <a:t>the computer randomly selected “paper” using the </a:t>
            </a:r>
            <a:r>
              <a:rPr lang="en-US" dirty="0" err="1"/>
              <a:t>random.choice</a:t>
            </a:r>
            <a:r>
              <a:rPr lang="en-US" dirty="0"/>
              <a:t>() function</a:t>
            </a:r>
            <a:r>
              <a:rPr lang="en-US" dirty="0" smtClean="0"/>
              <a:t>.</a:t>
            </a:r>
          </a:p>
          <a:p>
            <a:r>
              <a:rPr lang="en-US" dirty="0" smtClean="0"/>
              <a:t>According </a:t>
            </a:r>
            <a:r>
              <a:rPr lang="en-US" dirty="0"/>
              <a:t>to the game rules, paper covers rock, so the program correctly displays the </a:t>
            </a:r>
            <a:r>
              <a:rPr lang="en-US" dirty="0" err="1"/>
              <a:t>result:“You</a:t>
            </a:r>
            <a:r>
              <a:rPr lang="en-US" dirty="0"/>
              <a:t> lose! </a:t>
            </a:r>
            <a:r>
              <a:rPr lang="en-US" dirty="0" smtClean="0"/>
              <a:t>”.</a:t>
            </a:r>
          </a:p>
          <a:p>
            <a:r>
              <a:rPr lang="en-US" dirty="0" smtClean="0"/>
              <a:t>This </a:t>
            </a:r>
            <a:r>
              <a:rPr lang="en-US" dirty="0"/>
              <a:t>output confirms that the decision-making logic using conditional statements is working correctly, and the program successfully compares both choices to determine the winner.</a:t>
            </a:r>
            <a:endParaRPr lang="en-IN" dirty="0"/>
          </a:p>
        </p:txBody>
      </p:sp>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1412" y="1476426"/>
            <a:ext cx="9705975" cy="1924050"/>
          </a:xfrm>
          <a:prstGeom prst="rect">
            <a:avLst/>
          </a:prstGeom>
        </p:spPr>
      </p:pic>
    </p:spTree>
    <p:extLst>
      <p:ext uri="{BB962C8B-B14F-4D97-AF65-F5344CB8AC3E}">
        <p14:creationId xmlns:p14="http://schemas.microsoft.com/office/powerpoint/2010/main" val="28052695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63ECA-B59E-8742-1165-9911D2A450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0B2EF6-B936-B9EB-24E4-C84A062402DD}"/>
              </a:ext>
            </a:extLst>
          </p:cNvPr>
          <p:cNvSpPr>
            <a:spLocks noGrp="1"/>
          </p:cNvSpPr>
          <p:nvPr>
            <p:ph type="title"/>
          </p:nvPr>
        </p:nvSpPr>
        <p:spPr>
          <a:xfrm>
            <a:off x="0" y="3651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OUTPUT AND RESULTS</a:t>
            </a:r>
            <a:endParaRPr lang="en-US" dirty="0">
              <a:solidFill>
                <a:schemeClr val="tx1"/>
              </a:solidFill>
            </a:endParaRPr>
          </a:p>
        </p:txBody>
      </p:sp>
      <p:sp>
        <p:nvSpPr>
          <p:cNvPr id="3" name="Content Placeholder 2">
            <a:extLst>
              <a:ext uri="{FF2B5EF4-FFF2-40B4-BE49-F238E27FC236}">
                <a16:creationId xmlns:a16="http://schemas.microsoft.com/office/drawing/2014/main" id="{4B9409AF-1BD6-CFDC-B172-AD3D38536AC2}"/>
              </a:ext>
            </a:extLst>
          </p:cNvPr>
          <p:cNvSpPr>
            <a:spLocks noGrp="1"/>
          </p:cNvSpPr>
          <p:nvPr>
            <p:ph idx="1"/>
          </p:nvPr>
        </p:nvSpPr>
        <p:spPr>
          <a:xfrm>
            <a:off x="838200" y="1267326"/>
            <a:ext cx="10515600" cy="4909637"/>
          </a:xfrm>
        </p:spPr>
        <p:txBody>
          <a:bodyPr>
            <a:normAutofit/>
          </a:bodyPr>
          <a:lstStyle/>
          <a:p>
            <a:pPr lvl="0"/>
            <a:r>
              <a:rPr lang="en-US" u="sng" dirty="0" smtClean="0"/>
              <a:t>Result:</a:t>
            </a:r>
          </a:p>
          <a:p>
            <a:pPr lvl="0"/>
            <a:r>
              <a:rPr lang="en-US" dirty="0" smtClean="0"/>
              <a:t>The </a:t>
            </a:r>
            <a:r>
              <a:rPr lang="en-US" dirty="0"/>
              <a:t>Rock–Paper–Scissors game was successfully implemented using </a:t>
            </a:r>
            <a:r>
              <a:rPr lang="en-US" dirty="0" err="1"/>
              <a:t>Python.The</a:t>
            </a:r>
            <a:r>
              <a:rPr lang="en-US" dirty="0"/>
              <a:t> program allows the user to play against the computer, which makes random choices and displays accurate results based on the game rules. The output confirms that the decision-making logic functions correctly</a:t>
            </a:r>
            <a:r>
              <a:rPr lang="en-US" dirty="0" smtClean="0"/>
              <a:t>.</a:t>
            </a:r>
          </a:p>
          <a:p>
            <a:pPr lvl="0"/>
            <a:r>
              <a:rPr lang="en-US" u="sng" dirty="0" smtClean="0"/>
              <a:t>Future Enhancement:</a:t>
            </a:r>
          </a:p>
          <a:p>
            <a:pPr lvl="0"/>
            <a:r>
              <a:rPr lang="en-US" dirty="0" smtClean="0"/>
              <a:t>In </a:t>
            </a:r>
            <a:r>
              <a:rPr lang="en-US" dirty="0"/>
              <a:t>the future, this project can be enhanced by integrating machine learning to predict user choices, adding a graphical user interface (GUI) for better interaction, and maintaining a scoreboard to track multiple rounds.</a:t>
            </a:r>
            <a:endParaRPr lang="en-US" dirty="0"/>
          </a:p>
        </p:txBody>
      </p:sp>
      <p:sp>
        <p:nvSpPr>
          <p:cNvPr id="4" name="Date Placeholder 3">
            <a:extLst>
              <a:ext uri="{FF2B5EF4-FFF2-40B4-BE49-F238E27FC236}">
                <a16:creationId xmlns:a16="http://schemas.microsoft.com/office/drawing/2014/main" id="{04773938-5370-329C-27AB-D82ECB9D7128}"/>
              </a:ext>
            </a:extLst>
          </p:cNvPr>
          <p:cNvSpPr>
            <a:spLocks noGrp="1"/>
          </p:cNvSpPr>
          <p:nvPr>
            <p:ph type="dt" sz="half" idx="10"/>
          </p:nvPr>
        </p:nvSpPr>
        <p:spPr/>
        <p:txBody>
          <a:bodyPr/>
          <a:lstStyle/>
          <a:p>
            <a:fld id="{C5480D13-07B8-4CF5-901F-BD1025D74351}" type="datetime1">
              <a:rPr lang="en-US" smtClean="0"/>
              <a:t>10/28/2025</a:t>
            </a:fld>
            <a:endParaRPr lang="en-US"/>
          </a:p>
        </p:txBody>
      </p:sp>
      <p:sp>
        <p:nvSpPr>
          <p:cNvPr id="5" name="Slide Number Placeholder 4">
            <a:extLst>
              <a:ext uri="{FF2B5EF4-FFF2-40B4-BE49-F238E27FC236}">
                <a16:creationId xmlns:a16="http://schemas.microsoft.com/office/drawing/2014/main" id="{E8A83B3C-8735-B8FC-8D50-B919B3471343}"/>
              </a:ext>
            </a:extLst>
          </p:cNvPr>
          <p:cNvSpPr>
            <a:spLocks noGrp="1"/>
          </p:cNvSpPr>
          <p:nvPr>
            <p:ph type="sldNum" sz="quarter" idx="12"/>
          </p:nvPr>
        </p:nvSpPr>
        <p:spPr/>
        <p:txBody>
          <a:bodyPr/>
          <a:lstStyle/>
          <a:p>
            <a:fld id="{1FCEF87E-815D-44D1-B0AB-39AF0402D6A8}" type="slidenum">
              <a:rPr lang="en-US" smtClean="0"/>
              <a:t>6</a:t>
            </a:fld>
            <a:endParaRPr lang="en-US"/>
          </a:p>
        </p:txBody>
      </p:sp>
    </p:spTree>
    <p:extLst>
      <p:ext uri="{BB962C8B-B14F-4D97-AF65-F5344CB8AC3E}">
        <p14:creationId xmlns:p14="http://schemas.microsoft.com/office/powerpoint/2010/main" val="12633635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EA9EE-5679-A557-E7BF-0A904D0977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BF6077-2697-7116-5A2C-99B8054B7FE2}"/>
              </a:ext>
            </a:extLst>
          </p:cNvPr>
          <p:cNvSpPr>
            <a:spLocks noGrp="1"/>
          </p:cNvSpPr>
          <p:nvPr>
            <p:ph type="title"/>
          </p:nvPr>
        </p:nvSpPr>
        <p:spPr>
          <a:xfrm>
            <a:off x="0" y="3651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REFERENCES</a:t>
            </a:r>
            <a:endParaRPr lang="en-US" dirty="0">
              <a:solidFill>
                <a:schemeClr val="tx1"/>
              </a:solidFill>
            </a:endParaRPr>
          </a:p>
        </p:txBody>
      </p:sp>
      <p:sp>
        <p:nvSpPr>
          <p:cNvPr id="3" name="Content Placeholder 2">
            <a:extLst>
              <a:ext uri="{FF2B5EF4-FFF2-40B4-BE49-F238E27FC236}">
                <a16:creationId xmlns:a16="http://schemas.microsoft.com/office/drawing/2014/main" id="{D3AB1971-AF7F-80EE-26ED-EA8A7E8C7C21}"/>
              </a:ext>
            </a:extLst>
          </p:cNvPr>
          <p:cNvSpPr>
            <a:spLocks noGrp="1"/>
          </p:cNvSpPr>
          <p:nvPr>
            <p:ph idx="1"/>
          </p:nvPr>
        </p:nvSpPr>
        <p:spPr>
          <a:xfrm>
            <a:off x="838200" y="1267326"/>
            <a:ext cx="10515600" cy="4909637"/>
          </a:xfrm>
        </p:spPr>
        <p:txBody>
          <a:bodyPr>
            <a:normAutofit/>
          </a:bodyPr>
          <a:lstStyle/>
          <a:p>
            <a:pPr lvl="0"/>
            <a:r>
              <a:rPr lang="en-US" dirty="0"/>
              <a:t>1. Python Official Documentation – </a:t>
            </a:r>
            <a:r>
              <a:rPr lang="en-US" dirty="0">
                <a:hlinkClick r:id="rId2"/>
              </a:rPr>
              <a:t>https://docs.python.org/3</a:t>
            </a:r>
            <a:r>
              <a:rPr lang="en-US" dirty="0" smtClean="0">
                <a:hlinkClick r:id="rId2"/>
              </a:rPr>
              <a:t>/</a:t>
            </a:r>
            <a:r>
              <a:rPr lang="en-US" dirty="0" smtClean="0"/>
              <a:t>.</a:t>
            </a:r>
          </a:p>
          <a:p>
            <a:pPr lvl="0"/>
            <a:r>
              <a:rPr lang="en-US" dirty="0" smtClean="0"/>
              <a:t>2. </a:t>
            </a:r>
            <a:r>
              <a:rPr lang="en-US" dirty="0"/>
              <a:t>W3Schools Python Tutorial – </a:t>
            </a:r>
            <a:r>
              <a:rPr lang="en-US" dirty="0">
                <a:hlinkClick r:id="rId3"/>
              </a:rPr>
              <a:t>https://</a:t>
            </a:r>
            <a:r>
              <a:rPr lang="en-US" dirty="0" smtClean="0">
                <a:hlinkClick r:id="rId3"/>
              </a:rPr>
              <a:t>www.w3schools.com/python/</a:t>
            </a:r>
            <a:endParaRPr lang="en-US" dirty="0" smtClean="0"/>
          </a:p>
          <a:p>
            <a:pPr lvl="0"/>
            <a:r>
              <a:rPr lang="en-US" dirty="0" smtClean="0"/>
              <a:t>3</a:t>
            </a:r>
            <a:r>
              <a:rPr lang="en-US" dirty="0"/>
              <a:t>. </a:t>
            </a:r>
            <a:r>
              <a:rPr lang="en-US" dirty="0" err="1"/>
              <a:t>GeeksforGeeks</a:t>
            </a:r>
            <a:r>
              <a:rPr lang="en-US" dirty="0"/>
              <a:t> – Python Programming Language – </a:t>
            </a:r>
            <a:r>
              <a:rPr lang="en-US" dirty="0">
                <a:hlinkClick r:id="rId4"/>
              </a:rPr>
              <a:t>https://</a:t>
            </a:r>
            <a:r>
              <a:rPr lang="en-US" dirty="0" smtClean="0">
                <a:hlinkClick r:id="rId4"/>
              </a:rPr>
              <a:t>www.geeksforgeeks.org/python-programming-language/</a:t>
            </a:r>
            <a:endParaRPr lang="en-US" dirty="0" smtClean="0"/>
          </a:p>
          <a:p>
            <a:pPr lvl="0"/>
            <a:r>
              <a:rPr lang="en-US" dirty="0" smtClean="0"/>
              <a:t>4</a:t>
            </a:r>
            <a:r>
              <a:rPr lang="en-US" dirty="0"/>
              <a:t>. </a:t>
            </a:r>
            <a:r>
              <a:rPr lang="en-US" dirty="0" err="1"/>
              <a:t>TutorialsPoint</a:t>
            </a:r>
            <a:r>
              <a:rPr lang="en-US" dirty="0"/>
              <a:t> – Python Programming – https://</a:t>
            </a:r>
            <a:r>
              <a:rPr lang="en-US" dirty="0" smtClean="0"/>
              <a:t>www.tutorialspoint.com/python/index.htm</a:t>
            </a:r>
          </a:p>
          <a:p>
            <a:pPr lvl="0"/>
            <a:r>
              <a:rPr lang="en-US" dirty="0" smtClean="0"/>
              <a:t>5</a:t>
            </a:r>
            <a:r>
              <a:rPr lang="en-US" dirty="0"/>
              <a:t>. </a:t>
            </a:r>
            <a:r>
              <a:rPr lang="en-US" dirty="0" err="1"/>
              <a:t>Programiz</a:t>
            </a:r>
            <a:r>
              <a:rPr lang="en-US" dirty="0"/>
              <a:t> – Python Tutorial – https://</a:t>
            </a:r>
            <a:r>
              <a:rPr lang="en-US" dirty="0" smtClean="0"/>
              <a:t>www.programiz.com/python-programming</a:t>
            </a:r>
            <a:endParaRPr lang="en-US" dirty="0"/>
          </a:p>
          <a:p>
            <a:pPr lvl="0"/>
            <a:endParaRPr lang="en-US" dirty="0" smtClean="0"/>
          </a:p>
          <a:p>
            <a:pPr lvl="0"/>
            <a:endParaRPr lang="en-US" dirty="0"/>
          </a:p>
          <a:p>
            <a:pPr lvl="0"/>
            <a:endParaRPr lang="en-US" dirty="0" smtClean="0"/>
          </a:p>
          <a:p>
            <a:pPr lvl="0"/>
            <a:endParaRPr lang="en-US" dirty="0"/>
          </a:p>
          <a:p>
            <a:pPr lvl="0"/>
            <a:endParaRPr lang="en-US" dirty="0" smtClean="0"/>
          </a:p>
          <a:p>
            <a:pPr lvl="0"/>
            <a:endParaRPr lang="en-US" dirty="0"/>
          </a:p>
          <a:p>
            <a:pPr lvl="0"/>
            <a:endParaRPr lang="en-US" dirty="0" smtClean="0"/>
          </a:p>
          <a:p>
            <a:pPr lvl="0"/>
            <a:endParaRPr lang="en-US" dirty="0"/>
          </a:p>
        </p:txBody>
      </p:sp>
      <p:sp>
        <p:nvSpPr>
          <p:cNvPr id="4" name="Date Placeholder 3">
            <a:extLst>
              <a:ext uri="{FF2B5EF4-FFF2-40B4-BE49-F238E27FC236}">
                <a16:creationId xmlns:a16="http://schemas.microsoft.com/office/drawing/2014/main" id="{418721BC-42E2-4822-3086-5AF81F1A3726}"/>
              </a:ext>
            </a:extLst>
          </p:cNvPr>
          <p:cNvSpPr>
            <a:spLocks noGrp="1"/>
          </p:cNvSpPr>
          <p:nvPr>
            <p:ph type="dt" sz="half" idx="10"/>
          </p:nvPr>
        </p:nvSpPr>
        <p:spPr/>
        <p:txBody>
          <a:bodyPr/>
          <a:lstStyle/>
          <a:p>
            <a:fld id="{C5480D13-07B8-4CF5-901F-BD1025D74351}" type="datetime1">
              <a:rPr lang="en-US" smtClean="0"/>
              <a:t>10/28/2025</a:t>
            </a:fld>
            <a:endParaRPr lang="en-US"/>
          </a:p>
        </p:txBody>
      </p:sp>
      <p:sp>
        <p:nvSpPr>
          <p:cNvPr id="5" name="Slide Number Placeholder 4">
            <a:extLst>
              <a:ext uri="{FF2B5EF4-FFF2-40B4-BE49-F238E27FC236}">
                <a16:creationId xmlns:a16="http://schemas.microsoft.com/office/drawing/2014/main" id="{60D8BC28-15FA-0C88-32FB-88458DEBBC23}"/>
              </a:ext>
            </a:extLst>
          </p:cNvPr>
          <p:cNvSpPr>
            <a:spLocks noGrp="1"/>
          </p:cNvSpPr>
          <p:nvPr>
            <p:ph type="sldNum" sz="quarter" idx="12"/>
          </p:nvPr>
        </p:nvSpPr>
        <p:spPr/>
        <p:txBody>
          <a:bodyPr/>
          <a:lstStyle/>
          <a:p>
            <a:fld id="{1FCEF87E-815D-44D1-B0AB-39AF0402D6A8}" type="slidenum">
              <a:rPr lang="en-US" smtClean="0"/>
              <a:t>7</a:t>
            </a:fld>
            <a:endParaRPr lang="en-US"/>
          </a:p>
        </p:txBody>
      </p:sp>
    </p:spTree>
    <p:extLst>
      <p:ext uri="{BB962C8B-B14F-4D97-AF65-F5344CB8AC3E}">
        <p14:creationId xmlns:p14="http://schemas.microsoft.com/office/powerpoint/2010/main" val="7526071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TotalTime>
  <Words>559</Words>
  <Application>Microsoft Office PowerPoint</Application>
  <PresentationFormat>Widescreen</PresentationFormat>
  <Paragraphs>65</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Times New Roman</vt:lpstr>
      <vt:lpstr>Office Theme</vt:lpstr>
      <vt:lpstr>DEPARTMENT OF ARTIFICIAL INTELLIGENCE AND DATA SCIENCE ACADEMIC YEAR 2025 - 2026 SEMESTER III ARTIFICIAL INTELLIGENCE LABORATORY  MINI PROJECT REVIEW   Rock Paper Scissor Using Decision Making Algorithm</vt:lpstr>
      <vt:lpstr>PROBLEM STATEMENT</vt:lpstr>
      <vt:lpstr>THEORETICAL BACKGROUND</vt:lpstr>
      <vt:lpstr>IMPLEMENTATION AND CODE</vt:lpstr>
      <vt:lpstr>OUTPUT AND RESULTS</vt:lpstr>
      <vt:lpstr>OUTPUT AND RESULTS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DEPARTMENT OF ARTIFICIAL INTELLIGENCE AND DATA SCIENCE ACADEMIC YEAR 2025 - 2026 SEMESTER III ARTIFICIAL INTELLIGENCE LABORATORY  MINI PROJECT REVIEW   &lt;TITLE OF THE PROJECT&gt;</dc:title>
  <dc:creator>SANKAR GANESH K</dc:creator>
  <cp:lastModifiedBy>Admin</cp:lastModifiedBy>
  <cp:revision>13</cp:revision>
  <dcterms:created xsi:type="dcterms:W3CDTF">2025-10-18T08:57:34Z</dcterms:created>
  <dcterms:modified xsi:type="dcterms:W3CDTF">2025-10-28T14:25:49Z</dcterms:modified>
</cp:coreProperties>
</file>